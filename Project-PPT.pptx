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handoutMasterIdLst>
    <p:handoutMasterId r:id="rId19"/>
  </p:handoutMasterIdLst>
  <p:sldIdLst>
    <p:sldId id="338" r:id="rId3"/>
    <p:sldId id="327" r:id="rId4"/>
    <p:sldId id="315" r:id="rId5"/>
    <p:sldId id="329" r:id="rId6"/>
    <p:sldId id="302" r:id="rId7"/>
    <p:sldId id="339" r:id="rId9"/>
    <p:sldId id="340" r:id="rId10"/>
    <p:sldId id="344" r:id="rId11"/>
    <p:sldId id="345" r:id="rId12"/>
    <p:sldId id="346" r:id="rId13"/>
    <p:sldId id="347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20" userDrawn="1">
          <p15:clr>
            <a:srgbClr val="A4A3A4"/>
          </p15:clr>
        </p15:guide>
        <p15:guide id="4" pos="7250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6E25E649-3F16-4E02-A733-19D2CDBF48F0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 showGuides="1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20"/>
        <p:guide pos="7250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customXml" Target="../customXml/item3.xml"/><Relationship Id="rId24" Type="http://schemas.openxmlformats.org/officeDocument/2006/relationships/customXml" Target="../customXml/item2.xml"/><Relationship Id="rId23" Type="http://schemas.openxmlformats.org/officeDocument/2006/relationships/customXml" Target="../customXml/item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</p:txBody>
      </p:sp>
      <p:sp>
        <p:nvSpPr>
          <p:cNvPr id="15" name="Hexagon 14"/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/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/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/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/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/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/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/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/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/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/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/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/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22"/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1" name="Text Placeholder 22"/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2" name="Text Placeholder 22"/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7" name="Picture Placeholder 36"/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/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8" name="Date Placeholder 3"/>
          <p:cNvSpPr txBox="1"/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/>
          <p:cNvSpPr txBox="1"/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  <a:endParaRPr lang="en-US" sz="1100" b="1" dirty="0">
              <a:solidFill>
                <a:schemeClr val="accent2"/>
              </a:solidFill>
            </a:endParaRPr>
          </a:p>
        </p:txBody>
      </p:sp>
      <p:sp>
        <p:nvSpPr>
          <p:cNvPr id="30" name="Slide Number Placeholder 5"/>
          <p:cNvSpPr txBox="1"/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2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635" y="3583940"/>
            <a:ext cx="7065010" cy="12293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400" dirty="0">
                <a:solidFill>
                  <a:schemeClr val="tx1"/>
                </a:solidFill>
              </a:rPr>
              <a:t>  Netraja  </a:t>
            </a:r>
            <a:endParaRPr lang="en-IN" sz="2400" dirty="0">
              <a:solidFill>
                <a:schemeClr val="tx1"/>
              </a:solidFill>
            </a:endParaRPr>
          </a:p>
          <a:p>
            <a:pPr algn="l"/>
            <a:r>
              <a:rPr lang="en-US" altLang="en-IN" sz="2400" dirty="0">
                <a:solidFill>
                  <a:schemeClr val="tx1"/>
                </a:solidFill>
              </a:rPr>
              <a:t>  Babu Banarasi Das University Lucknow</a:t>
            </a:r>
            <a:r>
              <a:rPr lang="en-US" altLang="en-IN" b="0" dirty="0">
                <a:solidFill>
                  <a:schemeClr val="tx1"/>
                </a:solidFill>
              </a:rPr>
              <a:t> </a:t>
            </a:r>
            <a:endParaRPr lang="en-US" altLang="en-IN" b="0" dirty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3500" y="2619375"/>
            <a:ext cx="10534650" cy="743585"/>
          </a:xfrm>
        </p:spPr>
        <p:txBody>
          <a:bodyPr>
            <a:normAutofit/>
          </a:bodyPr>
          <a:lstStyle/>
          <a:p>
            <a:r>
              <a:rPr lang="en-US" altLang="en-GB" sz="3200" dirty="0"/>
              <a:t> </a:t>
            </a:r>
            <a:r>
              <a:rPr lang="en-US" altLang="en-US" sz="3200" dirty="0"/>
              <a:t>Seasonal Agriculture Performance Analysis</a:t>
            </a:r>
            <a:endParaRPr lang="en-US" altLang="en-US" sz="3200" dirty="0"/>
          </a:p>
        </p:txBody>
      </p:sp>
      <p:sp>
        <p:nvSpPr>
          <p:cNvPr id="15" name="Text Placeholder 1"/>
          <p:cNvSpPr txBox="1"/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9865" y="4813935"/>
            <a:ext cx="5795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US" altLang="en-US" b="1" dirty="0"/>
              <a:t> STU692813db584da1764234203</a:t>
            </a:r>
            <a:endParaRPr lang="en-US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94615" y="919480"/>
            <a:ext cx="7832725" cy="593915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1800" b="1" dirty="0"/>
              <a:t>Nearly 49% of Indian farms run at a loss — systemic crisis with no data-driven guidance</a:t>
            </a:r>
            <a:endParaRPr lang="en-US" altLang="en-US" sz="1800" b="1" dirty="0"/>
          </a:p>
          <a:p>
            <a:pPr>
              <a:lnSpc>
                <a:spcPct val="150000"/>
              </a:lnSpc>
            </a:pPr>
            <a:r>
              <a:rPr lang="en-US" altLang="en-US" sz="1800" b="1" dirty="0"/>
              <a:t>Farmers have no reliable way to identify which crop + season = maximum profit</a:t>
            </a:r>
            <a:endParaRPr lang="en-US" altLang="en-US" sz="1800" b="1" dirty="0"/>
          </a:p>
          <a:p>
            <a:pPr>
              <a:lnSpc>
                <a:spcPct val="150000"/>
              </a:lnSpc>
            </a:pPr>
            <a:r>
              <a:rPr lang="en-US" altLang="en-US" sz="1800" b="1" dirty="0"/>
              <a:t>Zaid season averages -₹24,805 profit/farm — yet farmers still cultivate it blindly</a:t>
            </a:r>
            <a:endParaRPr lang="en-US" altLang="en-US" sz="1800" b="1" dirty="0"/>
          </a:p>
          <a:p>
            <a:pPr>
              <a:lnSpc>
                <a:spcPct val="150000"/>
              </a:lnSpc>
            </a:pPr>
            <a:r>
              <a:rPr lang="en-US" altLang="en-US" sz="1800" b="1" dirty="0"/>
              <a:t>Rice, Wheat &amp; Maize (staple crops grown by majority) are loss-making on average</a:t>
            </a:r>
            <a:endParaRPr lang="en-US" altLang="en-US" sz="1800" b="1" dirty="0"/>
          </a:p>
          <a:p>
            <a:pPr>
              <a:lnSpc>
                <a:spcPct val="150000"/>
              </a:lnSpc>
            </a:pPr>
            <a:r>
              <a:rPr lang="en-US" altLang="en-US" sz="1800" b="1" dirty="0"/>
              <a:t>Water wastage is highest in Zaid — least efficient season, highest cost</a:t>
            </a:r>
            <a:endParaRPr lang="en-US" altLang="en-US" sz="1800" b="1" dirty="0"/>
          </a:p>
          <a:p>
            <a:pPr>
              <a:lnSpc>
                <a:spcPct val="150000"/>
              </a:lnSpc>
            </a:pPr>
            <a:r>
              <a:rPr lang="en-US" altLang="en-US" sz="1800" b="1" dirty="0"/>
              <a:t>No comprehensive analysis existed across 8 states, 3 seasons, 8 crops, 4,000 farms</a:t>
            </a:r>
            <a:endParaRPr lang="en-US" altLang="en-US" sz="1800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1767" y="-128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-635"/>
            <a:ext cx="9126220" cy="6859270"/>
          </a:xfrm>
        </p:spPr>
        <p:txBody>
          <a:bodyPr>
            <a:normAutofit/>
          </a:bodyPr>
          <a:lstStyle/>
          <a:p>
            <a:br>
              <a:rPr lang="en-GB" dirty="0"/>
            </a:b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635" y="-635"/>
            <a:ext cx="8559800" cy="677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/>
              <a:t>Project Description</a:t>
            </a:r>
            <a:endParaRPr lang="en-US" altLang="en-US" sz="2000" b="1"/>
          </a:p>
          <a:p>
            <a:endParaRPr lang="en-US" altLang="en-US"/>
          </a:p>
          <a:p>
            <a:r>
              <a:rPr lang="en-US" altLang="en-US"/>
              <a:t>This project presents a comprehensive analysis of seasonal agricultural performance across India using a dataset of 4,000 farm records, 28 features, 8 states, 3 seasons (Kharif, Rabi, Zaid), and 8 crop types.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What We Analyzed:</a:t>
            </a:r>
            <a:endParaRPr lang="en-US" altLang="en-US" sz="2000" b="1"/>
          </a:p>
          <a:p>
            <a:endParaRPr lang="en-US" altLang="en-US"/>
          </a:p>
          <a:p>
            <a:r>
              <a:rPr lang="en-US" altLang="en-US"/>
              <a:t>1. Seasonal yield, profit &amp; revenue comparison (Kharif vs Rabi vs Zaid)</a:t>
            </a:r>
            <a:endParaRPr lang="en-US" altLang="en-US"/>
          </a:p>
          <a:p>
            <a:r>
              <a:rPr lang="en-US" altLang="en-US"/>
              <a:t>2. Crop-wise profitability — which crops win, which lose</a:t>
            </a:r>
            <a:endParaRPr lang="en-US" altLang="en-US"/>
          </a:p>
          <a:p>
            <a:r>
              <a:rPr lang="en-US" altLang="en-US"/>
              <a:t>3. Environmental factors — rainfall, temperature, humidity impact on yield</a:t>
            </a:r>
            <a:endParaRPr lang="en-US" altLang="en-US"/>
          </a:p>
          <a:p>
            <a:r>
              <a:rPr lang="en-US" altLang="en-US"/>
              <a:t>3. Irrigation methods &amp; water efficiency across seasons</a:t>
            </a:r>
            <a:endParaRPr lang="en-US" altLang="en-US"/>
          </a:p>
          <a:p>
            <a:r>
              <a:rPr lang="en-US" altLang="en-US"/>
              <a:t>4. State-wise regional performance &amp; best crop-region combos</a:t>
            </a:r>
            <a:endParaRPr lang="en-US" altLang="en-US"/>
          </a:p>
          <a:p>
            <a:r>
              <a:rPr lang="en-US" altLang="en-US"/>
              <a:t>5. Why 49% farms are loss-making — pattern investigation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Key Tools:</a:t>
            </a:r>
            <a:r>
              <a:rPr lang="en-US" altLang="en-US"/>
              <a:t> Python | Pandas | NumPy | Matplotlib | Seaborn | SciPy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Dataset:</a:t>
            </a:r>
            <a:r>
              <a:rPr lang="en-US" altLang="en-US"/>
              <a:t> 4,000 rows × 28 columns | Missing values handled via season-wise median imputation | Outliers retained (represent real farm variation) | 4 new features engineered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Outcome:</a:t>
            </a:r>
            <a:r>
              <a:rPr lang="en-US" altLang="en-US"/>
              <a:t> 8 actionable findings with targeted recommendations for farmers, government, scientists, investors, NGOs, and insurance companies.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0" y="803275"/>
            <a:ext cx="9044940" cy="6054725"/>
          </a:xfrm>
        </p:spPr>
        <p:txBody>
          <a:bodyPr>
            <a:normAutofit fontScale="50000"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4000" dirty="0"/>
              <a:t> </a:t>
            </a:r>
            <a:r>
              <a:rPr lang="en-US" altLang="en-US" sz="4000" b="1" dirty="0"/>
              <a:t>Farmers</a:t>
            </a:r>
            <a:r>
              <a:rPr lang="en-US" altLang="en-US" sz="4000" dirty="0"/>
              <a:t> — Decide which crop &amp; season maximizes their profit</a:t>
            </a:r>
            <a:endParaRPr lang="en-US" altLang="en-US" sz="4000" dirty="0"/>
          </a:p>
          <a:p>
            <a:pPr algn="just">
              <a:lnSpc>
                <a:spcPct val="150000"/>
              </a:lnSpc>
            </a:pPr>
            <a:r>
              <a:rPr lang="zh-CN" altLang="en-US" sz="4000" b="1" dirty="0"/>
              <a:t> </a:t>
            </a:r>
            <a:r>
              <a:rPr lang="en-US" altLang="en-US" sz="4000" b="1" dirty="0"/>
              <a:t>Government / Agriculture Ministry</a:t>
            </a:r>
            <a:r>
              <a:rPr lang="en-US" altLang="en-US" sz="4000" dirty="0"/>
              <a:t> — Evidence-based policy making &amp; MSP reform</a:t>
            </a:r>
            <a:endParaRPr lang="en-US" altLang="en-US" sz="4000" dirty="0"/>
          </a:p>
          <a:p>
            <a:pPr algn="just">
              <a:lnSpc>
                <a:spcPct val="150000"/>
              </a:lnSpc>
            </a:pPr>
            <a:r>
              <a:rPr lang="en-US" altLang="en-US" sz="4000" b="1" dirty="0"/>
              <a:t> Agricultural Scientists</a:t>
            </a:r>
            <a:r>
              <a:rPr lang="en-US" altLang="en-US" sz="4000" dirty="0"/>
              <a:t> — Study seasonal environmental impact on yield</a:t>
            </a:r>
            <a:endParaRPr lang="en-US" altLang="en-US" sz="4000" dirty="0"/>
          </a:p>
          <a:p>
            <a:pPr algn="just">
              <a:lnSpc>
                <a:spcPct val="150000"/>
              </a:lnSpc>
            </a:pPr>
            <a:r>
              <a:rPr lang="en-US" altLang="en-US" sz="4000" b="1" dirty="0"/>
              <a:t> NGOs &amp; Rural Development Bodies</a:t>
            </a:r>
            <a:r>
              <a:rPr lang="en-US" altLang="en-US" sz="4000" dirty="0"/>
              <a:t> — Support sustainable farming practices</a:t>
            </a:r>
            <a:endParaRPr lang="en-US" altLang="en-US" sz="4000" dirty="0"/>
          </a:p>
          <a:p>
            <a:pPr algn="just">
              <a:lnSpc>
                <a:spcPct val="150000"/>
              </a:lnSpc>
            </a:pPr>
            <a:r>
              <a:rPr lang="zh-CN" altLang="en-US" sz="4000" dirty="0"/>
              <a:t> </a:t>
            </a:r>
            <a:r>
              <a:rPr lang="en-US" altLang="en-US" sz="4000" b="1" dirty="0"/>
              <a:t>Agri-business Investors</a:t>
            </a:r>
            <a:r>
              <a:rPr lang="en-US" altLang="en-US" sz="4000" dirty="0"/>
              <a:t> — Identify high-return crop-region combinations</a:t>
            </a:r>
            <a:endParaRPr lang="en-US" altLang="en-US" sz="4000" dirty="0"/>
          </a:p>
          <a:p>
            <a:pPr algn="just">
              <a:lnSpc>
                <a:spcPct val="150000"/>
              </a:lnSpc>
            </a:pPr>
            <a:r>
              <a:rPr lang="zh-CN" altLang="en-US" sz="4000" dirty="0"/>
              <a:t> </a:t>
            </a:r>
            <a:r>
              <a:rPr lang="en-US" altLang="en-US" sz="4000" b="1" dirty="0"/>
              <a:t>Insurance Companies</a:t>
            </a:r>
            <a:r>
              <a:rPr lang="en-US" altLang="en-US" sz="4000" dirty="0"/>
              <a:t> — Crop risk assessment &amp; premium planning</a:t>
            </a:r>
            <a:endParaRPr lang="en-US" altLang="en-US" sz="4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58413" y="3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US" altLang="en-US" b="1" dirty="0"/>
              <a:t>Python 3.x</a:t>
            </a:r>
            <a:r>
              <a:rPr lang="en-US" altLang="en-US" dirty="0"/>
              <a:t> — Core programming language</a:t>
            </a:r>
            <a:endParaRPr lang="en-US" altLang="en-US" dirty="0"/>
          </a:p>
          <a:p>
            <a:pPr lvl="1">
              <a:lnSpc>
                <a:spcPct val="150000"/>
              </a:lnSpc>
            </a:pPr>
            <a:r>
              <a:rPr lang="en-US" altLang="en-US" b="1" dirty="0"/>
              <a:t>Pandas</a:t>
            </a:r>
            <a:r>
              <a:rPr lang="en-US" altLang="en-US" dirty="0"/>
              <a:t> — Data cleaning, manipulation &amp; groupby analysis</a:t>
            </a:r>
            <a:endParaRPr lang="en-US" altLang="en-US" dirty="0"/>
          </a:p>
          <a:p>
            <a:pPr lvl="1">
              <a:lnSpc>
                <a:spcPct val="150000"/>
              </a:lnSpc>
            </a:pPr>
            <a:r>
              <a:rPr lang="en-US" altLang="en-US" b="1" dirty="0"/>
              <a:t>NumPy</a:t>
            </a:r>
            <a:r>
              <a:rPr lang="en-US" altLang="en-US" dirty="0"/>
              <a:t> — Numerical computing &amp; array operations</a:t>
            </a:r>
            <a:endParaRPr lang="en-US" altLang="en-US" dirty="0"/>
          </a:p>
          <a:p>
            <a:pPr lvl="1">
              <a:lnSpc>
                <a:spcPct val="150000"/>
              </a:lnSpc>
            </a:pPr>
            <a:r>
              <a:rPr lang="en-US" altLang="en-US" b="1" dirty="0"/>
              <a:t>Matplotlib &amp; Seaborn</a:t>
            </a:r>
            <a:r>
              <a:rPr lang="en-US" altLang="en-US" dirty="0"/>
              <a:t> — Data visualization &amp; statistical plots</a:t>
            </a:r>
            <a:endParaRPr lang="en-US" altLang="en-US" dirty="0"/>
          </a:p>
          <a:p>
            <a:pPr lvl="1">
              <a:lnSpc>
                <a:spcPct val="150000"/>
              </a:lnSpc>
            </a:pPr>
            <a:r>
              <a:rPr lang="en-US" altLang="en-US" dirty="0"/>
              <a:t>     </a:t>
            </a:r>
            <a:r>
              <a:rPr lang="en-US" altLang="en-US" b="1" dirty="0"/>
              <a:t>SciPy </a:t>
            </a:r>
            <a:r>
              <a:rPr lang="en-US" altLang="en-US" dirty="0"/>
              <a:t>— Hypothesis testing (One-Way ANOVA)</a:t>
            </a:r>
            <a:endParaRPr lang="en-US" altLang="en-US" dirty="0"/>
          </a:p>
          <a:p>
            <a:pPr lvl="1">
              <a:lnSpc>
                <a:spcPct val="150000"/>
              </a:lnSpc>
            </a:pPr>
            <a:r>
              <a:rPr lang="en-US" altLang="en-US" dirty="0"/>
              <a:t>   </a:t>
            </a:r>
            <a:r>
              <a:rPr lang="en-US" altLang="en-US" b="1" dirty="0"/>
              <a:t>Jupyter Notebook</a:t>
            </a:r>
            <a:r>
              <a:rPr lang="en-US" altLang="en-US" dirty="0"/>
              <a:t> — Development &amp; presentation environment</a:t>
            </a:r>
            <a:endParaRPr lang="en-US" altLang="en-US" dirty="0"/>
          </a:p>
          <a:p>
            <a:pPr lvl="1">
              <a:lnSpc>
                <a:spcPct val="150000"/>
              </a:lnSpc>
            </a:pPr>
            <a:r>
              <a:rPr lang="en-US" altLang="en-US" dirty="0"/>
              <a:t>    </a:t>
            </a:r>
            <a:r>
              <a:rPr lang="en-US" altLang="en-US" b="1" dirty="0"/>
              <a:t>CSV Dataset</a:t>
            </a:r>
            <a:r>
              <a:rPr lang="en-US" altLang="en-US" dirty="0"/>
              <a:t> — 4,000 rows × 28 columns</a:t>
            </a:r>
            <a:endParaRPr lang="en-US" alt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7" y="-251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0" y="957580"/>
            <a:ext cx="12192635" cy="58997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 descr="Screenshot 2026-09-05 2117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7415"/>
            <a:ext cx="11936730" cy="4762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2981960" cy="391160"/>
          </a:xfrm>
        </p:spPr>
        <p:txBody>
          <a:bodyPr>
            <a:normAutofit fontScale="90000"/>
          </a:bodyPr>
          <a:lstStyle/>
          <a:p>
            <a:r>
              <a:rPr lang="en-GB" sz="2400" dirty="0"/>
              <a:t>RESULTS </a:t>
            </a:r>
            <a:endParaRPr lang="en-GB" sz="2400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 screen shots of your code ]</a:t>
            </a:r>
            <a:endParaRPr lang="en-IN" dirty="0"/>
          </a:p>
        </p:txBody>
      </p:sp>
      <p:pic>
        <p:nvPicPr>
          <p:cNvPr id="2" name="Picture 1" descr="Screenshot 2026-09-05 2117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1160"/>
            <a:ext cx="12192635" cy="6467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1395095" cy="831215"/>
          </a:xfrm>
        </p:spPr>
        <p:txBody>
          <a:bodyPr>
            <a:normAutofit/>
          </a:bodyPr>
          <a:lstStyle/>
          <a:p>
            <a:r>
              <a:rPr lang="en-GB" sz="24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 descr="Screenshot 2026-09-05 2122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097280"/>
            <a:ext cx="11558270" cy="5664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2900045" cy="697865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" y="1069975"/>
            <a:ext cx="12123420" cy="5401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1795145" cy="831215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 descr="Screenshot 2026-09-05 2127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8340"/>
            <a:ext cx="12142470" cy="5605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64770"/>
            <a:ext cx="1847215" cy="500380"/>
          </a:xfrm>
        </p:spPr>
        <p:txBody>
          <a:bodyPr>
            <a:normAutofit fontScale="90000"/>
          </a:bodyPr>
          <a:p>
            <a:r>
              <a:rPr lang="en-US" b="1"/>
              <a:t>RESULTS</a:t>
            </a:r>
            <a:endParaRPr lang="en-US" b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11508740" y="6041390"/>
            <a:ext cx="683260" cy="365125"/>
          </a:xfrm>
        </p:spPr>
        <p:txBody>
          <a:bodyPr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685" y="1116330"/>
            <a:ext cx="12183745" cy="57416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7" y="-251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  <a:endParaRPr lang="en-IN" sz="4000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-635" y="830580"/>
            <a:ext cx="12192635" cy="6028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000" b="1" dirty="0"/>
              <a:t>1.</a:t>
            </a:r>
            <a:r>
              <a:rPr lang="en-US" altLang="en-US" sz="2000" dirty="0"/>
              <a:t> </a:t>
            </a:r>
            <a:r>
              <a:rPr lang="en-US" altLang="en-US" sz="2000" b="1" dirty="0"/>
              <a:t>ML Prediction Model</a:t>
            </a:r>
            <a:r>
              <a:rPr lang="en-US" altLang="en-US" sz="2000" dirty="0"/>
              <a:t> — Predict crop yield &amp; profit using Random Forest / XGBoost.</a:t>
            </a:r>
            <a:endParaRPr lang="en-US" altLang="en-US" sz="2000" dirty="0"/>
          </a:p>
          <a:p>
            <a:pPr algn="l"/>
            <a:endParaRPr lang="en-US" altLang="en-US" sz="2000" dirty="0"/>
          </a:p>
          <a:p>
            <a:pPr algn="l"/>
            <a:r>
              <a:rPr lang="en-US" altLang="en-US" sz="2000" b="1" dirty="0"/>
              <a:t>2. Interactive Dashboard</a:t>
            </a:r>
            <a:r>
              <a:rPr lang="en-US" altLang="en-US" sz="2000" dirty="0"/>
              <a:t> — Real-time web app using Streamlit for farmers &amp; policymakers.</a:t>
            </a:r>
            <a:endParaRPr lang="en-US" altLang="en-US" sz="2000" dirty="0"/>
          </a:p>
          <a:p>
            <a:pPr algn="l"/>
            <a:endParaRPr lang="en-US" altLang="en-US" sz="2000" dirty="0"/>
          </a:p>
          <a:p>
            <a:pPr algn="l"/>
            <a:r>
              <a:rPr lang="en-US" altLang="en-US" sz="2000" b="1" dirty="0"/>
              <a:t>3. Satellite &amp; Soil Data Integration </a:t>
            </a:r>
            <a:r>
              <a:rPr lang="en-US" altLang="en-US" sz="2000" dirty="0"/>
              <a:t>— NDVI, live weather APIs for real-time predictions.</a:t>
            </a:r>
            <a:endParaRPr lang="en-US" altLang="en-US" sz="2000" dirty="0"/>
          </a:p>
          <a:p>
            <a:pPr algn="l"/>
            <a:endParaRPr lang="en-US" altLang="en-US" sz="2000" dirty="0"/>
          </a:p>
          <a:p>
            <a:pPr algn="l"/>
            <a:r>
              <a:rPr altLang="zh-CN" sz="2000" b="1" dirty="0"/>
              <a:t>4.</a:t>
            </a:r>
            <a:r>
              <a:rPr lang="zh-CN" altLang="en-US" sz="2000" b="1" dirty="0"/>
              <a:t> </a:t>
            </a:r>
            <a:r>
              <a:rPr lang="en-US" altLang="en-US" sz="2000" b="1" dirty="0"/>
              <a:t>Crop Recommendation System</a:t>
            </a:r>
            <a:r>
              <a:rPr lang="en-US" altLang="en-US" sz="2000" dirty="0"/>
              <a:t> — AI-based advisory per district, season &amp; soil type.</a:t>
            </a:r>
            <a:endParaRPr lang="en-US" altLang="en-US" sz="2000" dirty="0"/>
          </a:p>
          <a:p>
            <a:pPr algn="l"/>
            <a:endParaRPr lang="en-US" altLang="en-US" sz="2000" dirty="0"/>
          </a:p>
          <a:p>
            <a:pPr algn="l"/>
            <a:r>
              <a:rPr lang="en-US" altLang="en-US" sz="2000" b="1" dirty="0"/>
              <a:t>5. Zaid Risk Alert System</a:t>
            </a:r>
            <a:r>
              <a:rPr lang="en-US" altLang="en-US" sz="2000" dirty="0"/>
              <a:t> — Automated warning to prevent summer farming losses.</a:t>
            </a:r>
            <a:endParaRPr lang="en-US" altLang="en-US" sz="2000" dirty="0"/>
          </a:p>
          <a:p>
            <a:pPr algn="l"/>
            <a:endParaRPr lang="en-US" altLang="en-US" sz="2000" dirty="0"/>
          </a:p>
          <a:p>
            <a:pPr algn="l"/>
            <a:r>
              <a:rPr lang="en-US" altLang="en-US" sz="2000" b="1" dirty="0"/>
              <a:t>6. Multi-country Expansion</a:t>
            </a:r>
            <a:r>
              <a:rPr lang="en-US" altLang="en-US" sz="2000" dirty="0"/>
              <a:t> — Extend analysis to other South Asian agricultural regions.</a:t>
            </a:r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  <a:endParaRPr lang="en-IN" sz="4000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675" y="1275080"/>
            <a:ext cx="9951085" cy="1250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/>
              <a:t>https://github.com/Netraja-swami/Seasonal-Agriculture-Performance-Analysis</a:t>
            </a:r>
            <a:endParaRPr lang="en-US" altLang="en-US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  <a:endParaRPr lang="en-IN" sz="3200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1464310"/>
            <a:ext cx="7208520" cy="510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247850" y="2728595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17" name="Text Placeholder 28"/>
          <p:cNvSpPr txBox="1"/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/>
          <p:cNvSpPr txBox="1"/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/>
          <p:cNvSpPr txBox="1"/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/>
          <p:cNvSpPr txBox="1"/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/>
</ds:datastoreItem>
</file>

<file path=customXml/itemProps2.xml><?xml version="1.0" encoding="utf-8"?>
<ds:datastoreItem xmlns:ds="http://schemas.openxmlformats.org/officeDocument/2006/customXml" ds:itemID="{4DEA9014-ED64-4558-B1E1-D03F0EE32BEB}">
  <ds:schemaRefs/>
</ds:datastoreItem>
</file>

<file path=customXml/itemProps3.xml><?xml version="1.0" encoding="utf-8"?>
<ds:datastoreItem xmlns:ds="http://schemas.openxmlformats.org/officeDocument/2006/customXml" ds:itemID="{B19EB750-A6DA-4BE8-B87B-FC499FE7336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3186</Words>
  <Application>WPS Presentation</Application>
  <PresentationFormat>Widescreen</PresentationFormat>
  <Paragraphs>94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Wingdings 3</vt:lpstr>
      <vt:lpstr>Arial</vt:lpstr>
      <vt:lpstr>Calibri</vt:lpstr>
      <vt:lpstr>Trebuchet MS</vt:lpstr>
      <vt:lpstr>Microsoft YaHei</vt:lpstr>
      <vt:lpstr>Arial Unicode MS</vt:lpstr>
      <vt:lpstr>STXinwei</vt:lpstr>
      <vt:lpstr>Facet</vt:lpstr>
      <vt:lpstr> Seasonal Agriculture Performance Analysis</vt:lpstr>
      <vt:lpstr>PROBLEM  STATEMENT</vt:lpstr>
      <vt:lpstr>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</vt:lpstr>
      <vt:lpstr>Future scope</vt:lpstr>
      <vt:lpstr>GitHub Link</vt:lpstr>
      <vt:lpstr>VOIS Course completion certificate -  Course name- Data Visualization 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adarsh verma</cp:lastModifiedBy>
  <cp:revision>101</cp:revision>
  <dcterms:created xsi:type="dcterms:W3CDTF">2021-07-11T13:13:00Z</dcterms:created>
  <dcterms:modified xsi:type="dcterms:W3CDTF">2026-09-06T05:20:29Z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KSOProductBuildVer">
    <vt:lpwstr>1033-12.1.0.28032</vt:lpwstr>
  </property>
  <property fmtid="{D5CDD505-2E9C-101B-9397-08002B2CF9AE}" pid="4" name="ICV">
    <vt:lpwstr>39147230A8F9476A87F4DE4A82C49D61_13</vt:lpwstr>
  </property>
</Properties>
</file>